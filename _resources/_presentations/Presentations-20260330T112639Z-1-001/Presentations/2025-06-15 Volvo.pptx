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Ubuntu"/>
      <p:regular r:id="rId12"/>
      <p:bold r:id="rId13"/>
      <p:italic r:id="rId14"/>
      <p:boldItalic r:id="rId15"/>
    </p:embeddedFont>
    <p:embeddedFont>
      <p:font typeface="Ubuntu Medium"/>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Ubuntu-bold.fntdata"/><Relationship Id="rId12" Type="http://schemas.openxmlformats.org/officeDocument/2006/relationships/font" Target="fonts/Ubuntu-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Ubuntu-boldItalic.fntdata"/><Relationship Id="rId14" Type="http://schemas.openxmlformats.org/officeDocument/2006/relationships/font" Target="fonts/Ubuntu-italic.fntdata"/><Relationship Id="rId17" Type="http://schemas.openxmlformats.org/officeDocument/2006/relationships/font" Target="fonts/UbuntuMedium-bold.fntdata"/><Relationship Id="rId16" Type="http://schemas.openxmlformats.org/officeDocument/2006/relationships/font" Target="fonts/UbuntuMedium-regular.fntdata"/><Relationship Id="rId5" Type="http://schemas.openxmlformats.org/officeDocument/2006/relationships/notesMaster" Target="notesMasters/notesMaster1.xml"/><Relationship Id="rId19" Type="http://schemas.openxmlformats.org/officeDocument/2006/relationships/font" Target="fonts/UbuntuMedium-boldItalic.fntdata"/><Relationship Id="rId6" Type="http://schemas.openxmlformats.org/officeDocument/2006/relationships/slide" Target="slides/slide1.xml"/><Relationship Id="rId18" Type="http://schemas.openxmlformats.org/officeDocument/2006/relationships/font" Target="fonts/UbuntuMedium-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625334c58e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625334c58e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625334c58e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625334c58e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625334c58e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625334c58e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625334c58e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625334c58e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625334c58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625334c58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 once we had ORKA, we could move on to create a modular system where the PEL could be used.</a:t>
            </a:r>
            <a:endParaRPr/>
          </a:p>
          <a:p>
            <a:pPr indent="0" lvl="0" marL="0" rtl="0" algn="l">
              <a:spcBef>
                <a:spcPts val="0"/>
              </a:spcBef>
              <a:spcAft>
                <a:spcPts val="0"/>
              </a:spcAft>
              <a:buNone/>
            </a:pPr>
            <a:r>
              <a:rPr lang="en"/>
              <a:t>We basically want to abstract away from the sensory layer, and with the use of ORKA, select different annotators to construct the observation graph, and then use the graph to perform the linking process</a:t>
            </a:r>
            <a:endParaRPr/>
          </a:p>
          <a:p>
            <a:pPr indent="0" lvl="0" marL="0" rtl="0" algn="l">
              <a:spcBef>
                <a:spcPts val="0"/>
              </a:spcBef>
              <a:spcAft>
                <a:spcPts val="0"/>
              </a:spcAft>
              <a:buNone/>
            </a:pPr>
            <a:r>
              <a:rPr lang="en"/>
              <a:t>We presented this work last week at AAAI FSS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625334c58e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625334c58e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focus of this system is to leverage the model base that is hosted on huggingface, and to provide a framework that allows roboticists to reuse the models developed.</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0" y="744575"/>
            <a:ext cx="9144000" cy="2118300"/>
          </a:xfrm>
          <a:prstGeom prst="rect">
            <a:avLst/>
          </a:prstGeom>
          <a:solidFill>
            <a:srgbClr val="4A8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solidFill>
                  <a:schemeClr val="lt1"/>
                </a:solidFill>
                <a:latin typeface="Ubuntu"/>
                <a:ea typeface="Ubuntu"/>
                <a:cs typeface="Ubuntu"/>
                <a:sym typeface="Ubuntu"/>
              </a:rPr>
              <a:t>Perceived Entity-Linking for Robotic Agents</a:t>
            </a:r>
            <a:endParaRPr b="1">
              <a:solidFill>
                <a:schemeClr val="lt1"/>
              </a:solidFill>
              <a:latin typeface="Ubuntu"/>
              <a:ea typeface="Ubuntu"/>
              <a:cs typeface="Ubuntu"/>
              <a:sym typeface="Ubuntu"/>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p:nvPr/>
        </p:nvSpPr>
        <p:spPr>
          <a:xfrm>
            <a:off x="0" y="0"/>
            <a:ext cx="9144000" cy="692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 name="Google Shape;61;p14"/>
          <p:cNvSpPr txBox="1"/>
          <p:nvPr>
            <p:ph idx="1" type="subTitle"/>
          </p:nvPr>
        </p:nvSpPr>
        <p:spPr>
          <a:xfrm>
            <a:off x="358025" y="40500"/>
            <a:ext cx="87861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Ubuntu"/>
                <a:ea typeface="Ubuntu"/>
                <a:cs typeface="Ubuntu"/>
                <a:sym typeface="Ubuntu"/>
              </a:rPr>
              <a:t>About Me</a:t>
            </a:r>
            <a:endParaRPr b="1">
              <a:solidFill>
                <a:schemeClr val="lt1"/>
              </a:solidFill>
              <a:latin typeface="Ubuntu"/>
              <a:ea typeface="Ubuntu"/>
              <a:cs typeface="Ubuntu"/>
              <a:sym typeface="Ubuntu"/>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5" title="PEL-Two Layers.png"/>
          <p:cNvPicPr preferRelativeResize="0"/>
          <p:nvPr/>
        </p:nvPicPr>
        <p:blipFill>
          <a:blip r:embed="rId3">
            <a:alphaModFix/>
          </a:blip>
          <a:stretch>
            <a:fillRect/>
          </a:stretch>
        </p:blipFill>
        <p:spPr>
          <a:xfrm>
            <a:off x="94850" y="855025"/>
            <a:ext cx="8954301" cy="2212326"/>
          </a:xfrm>
          <a:prstGeom prst="rect">
            <a:avLst/>
          </a:prstGeom>
          <a:noFill/>
          <a:ln>
            <a:noFill/>
          </a:ln>
        </p:spPr>
      </p:pic>
      <p:sp>
        <p:nvSpPr>
          <p:cNvPr id="67" name="Google Shape;67;p15"/>
          <p:cNvSpPr/>
          <p:nvPr/>
        </p:nvSpPr>
        <p:spPr>
          <a:xfrm>
            <a:off x="0" y="0"/>
            <a:ext cx="9144000" cy="692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 name="Google Shape;68;p15"/>
          <p:cNvSpPr txBox="1"/>
          <p:nvPr>
            <p:ph idx="1" type="subTitle"/>
          </p:nvPr>
        </p:nvSpPr>
        <p:spPr>
          <a:xfrm>
            <a:off x="358025" y="40500"/>
            <a:ext cx="8786100" cy="6111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b="1" lang="en">
                <a:solidFill>
                  <a:schemeClr val="lt1"/>
                </a:solidFill>
                <a:latin typeface="Ubuntu"/>
                <a:ea typeface="Ubuntu"/>
                <a:cs typeface="Ubuntu"/>
                <a:sym typeface="Ubuntu"/>
              </a:rPr>
              <a:t>How to link sensory data to knowledge repositories?</a:t>
            </a:r>
            <a:endParaRPr b="1">
              <a:solidFill>
                <a:schemeClr val="lt1"/>
              </a:solidFill>
              <a:latin typeface="Ubuntu"/>
              <a:ea typeface="Ubuntu"/>
              <a:cs typeface="Ubuntu"/>
              <a:sym typeface="Ubuntu"/>
            </a:endParaRPr>
          </a:p>
        </p:txBody>
      </p:sp>
      <p:pic>
        <p:nvPicPr>
          <p:cNvPr id="69" name="Google Shape;69;p15"/>
          <p:cNvPicPr preferRelativeResize="0"/>
          <p:nvPr/>
        </p:nvPicPr>
        <p:blipFill>
          <a:blip r:embed="rId4">
            <a:alphaModFix/>
          </a:blip>
          <a:stretch>
            <a:fillRect/>
          </a:stretch>
        </p:blipFill>
        <p:spPr>
          <a:xfrm>
            <a:off x="194150" y="3365000"/>
            <a:ext cx="8839204" cy="115669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p:nvPr/>
        </p:nvSpPr>
        <p:spPr>
          <a:xfrm>
            <a:off x="0" y="0"/>
            <a:ext cx="9144000" cy="692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 name="Google Shape;75;p16"/>
          <p:cNvSpPr txBox="1"/>
          <p:nvPr>
            <p:ph idx="1" type="subTitle"/>
          </p:nvPr>
        </p:nvSpPr>
        <p:spPr>
          <a:xfrm>
            <a:off x="358025" y="40500"/>
            <a:ext cx="87861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Ubuntu"/>
                <a:ea typeface="Ubuntu"/>
                <a:cs typeface="Ubuntu"/>
                <a:sym typeface="Ubuntu"/>
              </a:rPr>
              <a:t>PEL Pipeline with EL</a:t>
            </a:r>
            <a:endParaRPr b="1">
              <a:solidFill>
                <a:schemeClr val="lt1"/>
              </a:solidFill>
              <a:latin typeface="Ubuntu"/>
              <a:ea typeface="Ubuntu"/>
              <a:cs typeface="Ubuntu"/>
              <a:sym typeface="Ubuntu"/>
            </a:endParaRPr>
          </a:p>
        </p:txBody>
      </p:sp>
      <p:pic>
        <p:nvPicPr>
          <p:cNvPr id="76" name="Google Shape;76;p16"/>
          <p:cNvPicPr preferRelativeResize="0"/>
          <p:nvPr/>
        </p:nvPicPr>
        <p:blipFill>
          <a:blip r:embed="rId3">
            <a:alphaModFix/>
          </a:blip>
          <a:stretch>
            <a:fillRect/>
          </a:stretch>
        </p:blipFill>
        <p:spPr>
          <a:xfrm>
            <a:off x="152400" y="723275"/>
            <a:ext cx="8839201" cy="2479346"/>
          </a:xfrm>
          <a:prstGeom prst="rect">
            <a:avLst/>
          </a:prstGeom>
          <a:noFill/>
          <a:ln>
            <a:noFill/>
          </a:ln>
        </p:spPr>
      </p:pic>
      <p:pic>
        <p:nvPicPr>
          <p:cNvPr id="77" name="Google Shape;77;p16"/>
          <p:cNvPicPr preferRelativeResize="0"/>
          <p:nvPr/>
        </p:nvPicPr>
        <p:blipFill>
          <a:blip r:embed="rId4">
            <a:alphaModFix/>
          </a:blip>
          <a:stretch>
            <a:fillRect/>
          </a:stretch>
        </p:blipFill>
        <p:spPr>
          <a:xfrm>
            <a:off x="194150" y="3365000"/>
            <a:ext cx="8839204" cy="115669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p:nvPr/>
        </p:nvSpPr>
        <p:spPr>
          <a:xfrm>
            <a:off x="0" y="0"/>
            <a:ext cx="9144000" cy="692100"/>
          </a:xfrm>
          <a:prstGeom prst="rect">
            <a:avLst/>
          </a:prstGeom>
          <a:solidFill>
            <a:srgbClr val="4A8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 name="Google Shape;83;p17"/>
          <p:cNvSpPr txBox="1"/>
          <p:nvPr>
            <p:ph idx="1" type="subTitle"/>
          </p:nvPr>
        </p:nvSpPr>
        <p:spPr>
          <a:xfrm>
            <a:off x="358025" y="40500"/>
            <a:ext cx="8786100" cy="61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lt1"/>
                </a:solidFill>
                <a:latin typeface="Ubuntu"/>
                <a:ea typeface="Ubuntu"/>
                <a:cs typeface="Ubuntu"/>
                <a:sym typeface="Ubuntu"/>
              </a:rPr>
              <a:t>Perceived-Entity Linking System</a:t>
            </a:r>
            <a:endParaRPr b="1">
              <a:solidFill>
                <a:schemeClr val="lt1"/>
              </a:solidFill>
              <a:latin typeface="Ubuntu"/>
              <a:ea typeface="Ubuntu"/>
              <a:cs typeface="Ubuntu"/>
              <a:sym typeface="Ubuntu"/>
            </a:endParaRPr>
          </a:p>
        </p:txBody>
      </p:sp>
      <p:pic>
        <p:nvPicPr>
          <p:cNvPr id="84" name="Google Shape;84;p17"/>
          <p:cNvPicPr preferRelativeResize="0"/>
          <p:nvPr/>
        </p:nvPicPr>
        <p:blipFill>
          <a:blip r:embed="rId3">
            <a:alphaModFix/>
          </a:blip>
          <a:stretch>
            <a:fillRect/>
          </a:stretch>
        </p:blipFill>
        <p:spPr>
          <a:xfrm>
            <a:off x="668325" y="795325"/>
            <a:ext cx="7807350" cy="3995175"/>
          </a:xfrm>
          <a:prstGeom prst="rect">
            <a:avLst/>
          </a:prstGeom>
          <a:noFill/>
          <a:ln>
            <a:noFill/>
          </a:ln>
        </p:spPr>
      </p:pic>
      <p:sp>
        <p:nvSpPr>
          <p:cNvPr id="85" name="Google Shape;85;p17"/>
          <p:cNvSpPr txBox="1"/>
          <p:nvPr/>
        </p:nvSpPr>
        <p:spPr>
          <a:xfrm>
            <a:off x="0" y="4700875"/>
            <a:ext cx="9144000" cy="51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accent1"/>
                </a:solidFill>
                <a:latin typeface="Ubuntu Medium"/>
                <a:ea typeface="Ubuntu Medium"/>
                <a:cs typeface="Ubuntu Medium"/>
                <a:sym typeface="Ubuntu Medium"/>
              </a:rPr>
              <a:t>Adamik et al.: Large-Scale Knowledge Graph as a Tool for Enhanced Robotic Perception, AAAI Fall Symposium, Unified Representations for Robotic Application Development (AAAI FSS - UR-RAD), 2024</a:t>
            </a:r>
            <a:endParaRPr sz="1000">
              <a:solidFill>
                <a:schemeClr val="accent1"/>
              </a:solidFill>
              <a:latin typeface="Ubuntu Medium"/>
              <a:ea typeface="Ubuntu Medium"/>
              <a:cs typeface="Ubuntu Medium"/>
              <a:sym typeface="Ubuntu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p:nvPr/>
        </p:nvSpPr>
        <p:spPr>
          <a:xfrm>
            <a:off x="0" y="0"/>
            <a:ext cx="9144000" cy="692100"/>
          </a:xfrm>
          <a:prstGeom prst="rect">
            <a:avLst/>
          </a:prstGeom>
          <a:solidFill>
            <a:srgbClr val="4A8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 name="Google Shape;91;p18"/>
          <p:cNvSpPr txBox="1"/>
          <p:nvPr>
            <p:ph idx="1" type="subTitle"/>
          </p:nvPr>
        </p:nvSpPr>
        <p:spPr>
          <a:xfrm>
            <a:off x="108250" y="40500"/>
            <a:ext cx="8786100" cy="6111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b="1" lang="en">
                <a:solidFill>
                  <a:schemeClr val="lt1"/>
                </a:solidFill>
                <a:latin typeface="Ubuntu"/>
                <a:ea typeface="Ubuntu"/>
                <a:cs typeface="Ubuntu"/>
                <a:sym typeface="Ubuntu"/>
              </a:rPr>
              <a:t>Ontology-Based Robot Vision System (ORVIS) - WIP</a:t>
            </a:r>
            <a:endParaRPr b="1">
              <a:solidFill>
                <a:schemeClr val="lt1"/>
              </a:solidFill>
              <a:latin typeface="Ubuntu"/>
              <a:ea typeface="Ubuntu"/>
              <a:cs typeface="Ubuntu"/>
              <a:sym typeface="Ubuntu"/>
            </a:endParaRPr>
          </a:p>
        </p:txBody>
      </p:sp>
      <p:pic>
        <p:nvPicPr>
          <p:cNvPr id="92" name="Google Shape;92;p18"/>
          <p:cNvPicPr preferRelativeResize="0"/>
          <p:nvPr/>
        </p:nvPicPr>
        <p:blipFill>
          <a:blip r:embed="rId3">
            <a:alphaModFix/>
          </a:blip>
          <a:stretch>
            <a:fillRect/>
          </a:stretch>
        </p:blipFill>
        <p:spPr>
          <a:xfrm>
            <a:off x="152400" y="844500"/>
            <a:ext cx="8839204" cy="409158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