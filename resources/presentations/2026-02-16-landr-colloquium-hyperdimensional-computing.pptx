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6a57b032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6a57b03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f3e0d8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3f3e0d8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6a57b032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6a57b032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3f3e0d84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3f3e0d8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3fa1e211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3fa1e211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3fa1e211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3fa1e21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3f3e0d84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3f3e0d84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fa1e211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3fa1e211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3fa1e2110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3fa1e2110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3fa1e2110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3fa1e2110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3fa1e2110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3fa1e211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3fa1e2110_2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3fa1e2110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3fa1e2110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93fa1e2110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3fa1e2110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93fa1e2110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3fa1e211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3fa1e211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3fa1e2110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93fa1e211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3fa1e211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3fa1e211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3fa1e211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93fa1e211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3fa1e211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3fa1e211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93fa1e211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93fa1e211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fa1e2110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3fa1e2110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3fa1e2110_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93fa1e2110_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3fa1e211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3fa1e211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3fa1e211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3fa1e211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93fa1e2110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93fa1e211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3fa1e211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3fa1e211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93fa1e2110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93fa1e211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3fa1e211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93fa1e211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93fa1e2110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93fa1e2110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3f3e0d84e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3f3e0d84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Hyperdimensional Computing /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 Symbolic Architectures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175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0" y="4750500"/>
            <a:ext cx="77616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Slides adapted from: https://www.youtube.com/watch?v=zUCoxhExe0o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Motivation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Basics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Example(s)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Takeaways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- Brain side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Brains are complex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Sensory signals are variable &amp; noisy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Neurons malfunction and die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Brain is flexible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Would be cool to model them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Clues: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40 billion neurons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240 trillion synapses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6000 connections per neuron on average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- Requirements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Needs a theory of computing, without it it’s nearly impossible to reverse-engineer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Requirements: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Speed of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Retention over a lifetime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Generalisation from examples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Reasoning by analogy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Tolerance for variability and noise in the data.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: Key Observation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Distant concepts are connected by short links: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 </a:t>
            </a:r>
            <a:r>
              <a:rPr lang="en"/>
              <a:t>≈</a:t>
            </a:r>
            <a:r>
              <a:rPr b="1" lang="en"/>
              <a:t> </a:t>
            </a:r>
            <a:r>
              <a:rPr lang="en"/>
              <a:t>Lake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 ≈ Fisherman ≈ Fish ≈ Lake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Man ≈ Plumber ≈ Water ≈ Lake</a:t>
            </a:r>
            <a:endParaRPr/>
          </a:p>
        </p:txBody>
      </p:sp>
      <p:cxnSp>
        <p:nvCxnSpPr>
          <p:cNvPr id="81" name="Google Shape;81;p17"/>
          <p:cNvCxnSpPr/>
          <p:nvPr/>
        </p:nvCxnSpPr>
        <p:spPr>
          <a:xfrm flipH="1">
            <a:off x="1408600" y="1618800"/>
            <a:ext cx="53700" cy="17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 of computing with high dimensional vectors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1950s - Von Neumann: The Computer and the Brain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1960s - Rosenblatt: Perceptron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1970s and ‘80s: ANNs / Connectionism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1990s - Plate: Holographic Reduced Representation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now: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Technology is ripe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need to supply the compatible theory of computing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Hyper = High </a:t>
            </a:r>
            <a:r>
              <a:rPr lang="en"/>
              <a:t>dimensional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Hyper = High dimensional</a:t>
            </a:r>
            <a:endParaRPr/>
          </a:p>
        </p:txBody>
      </p:sp>
      <p:pic>
        <p:nvPicPr>
          <p:cNvPr id="100" name="Google Shape;10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825" y="1071950"/>
            <a:ext cx="4208300" cy="31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Hyper = High dimensional (10.000+ )</a:t>
            </a:r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825" y="1071950"/>
            <a:ext cx="4208300" cy="31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 = High dimensional (10.000+ 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Randomness is important</a:t>
            </a:r>
            <a:endParaRPr/>
          </a:p>
        </p:txBody>
      </p:sp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8825" y="1071950"/>
            <a:ext cx="4208300" cy="315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properties of Hyperdimensional Vectors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imagined as a 10.000 hypercube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2003" y="2195450"/>
            <a:ext cx="2472000" cy="26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properties of Hyperdimensional Vectors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imagined as a 10.000 hypercube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Has 10.000 mutually orthogonal vectors, but </a:t>
            </a:r>
            <a:r>
              <a:rPr b="1" lang="en"/>
              <a:t>billions</a:t>
            </a:r>
            <a:r>
              <a:rPr lang="en"/>
              <a:t> of nearly orthogonal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Retrieval works based on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“Noise” means dissimilar/orthogonal</a:t>
            </a:r>
            <a:br>
              <a:rPr lang="en"/>
            </a:br>
            <a:r>
              <a:rPr lang="en"/>
              <a:t>to any known vector (similarity ~0.5)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properties of Hyperdimensional Vectors</a:t>
            </a:r>
            <a:endParaRPr/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imagined as a 10.000 hypercube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Has 10.000 mutually orthogonal vectors, but </a:t>
            </a:r>
            <a:r>
              <a:rPr b="1" lang="en"/>
              <a:t>billions</a:t>
            </a:r>
            <a:r>
              <a:rPr lang="en"/>
              <a:t> of nearly orthogonal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Retrieval works based on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“Noise” means dissimilar/orthogonal</a:t>
            </a:r>
            <a:br>
              <a:rPr lang="en"/>
            </a:br>
            <a:r>
              <a:rPr lang="en"/>
              <a:t>to any known vector</a:t>
            </a:r>
            <a:r>
              <a:rPr lang="en"/>
              <a:t> (similarity ~0.5)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99.999997% lie in 0.5 ± 0.03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in a billion lie outside</a:t>
            </a:r>
            <a:endParaRPr/>
          </a:p>
        </p:txBody>
      </p:sp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0725" y="1966700"/>
            <a:ext cx="3244576" cy="30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properties of Hyperdimensional Vectors</a:t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 be imagined as a 10.000 hypercube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Has 10.000 mutually orthogonal vectors, but </a:t>
            </a:r>
            <a:r>
              <a:rPr b="1" lang="en"/>
              <a:t>billions</a:t>
            </a:r>
            <a:r>
              <a:rPr lang="en"/>
              <a:t> of nearly orthogonal vectors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Retrieval works based on similarity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“Noise” means dissimilar/orthogonal</a:t>
            </a:r>
            <a:br>
              <a:rPr lang="en"/>
            </a:br>
            <a:r>
              <a:rPr lang="en"/>
              <a:t>to any known vector (similarity ~0.5)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99.999997% lie in 0.5 ± 0.03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 in a billion lie outside</a:t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88" y="1974601"/>
            <a:ext cx="4379826" cy="312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“ADD” → Coordinatewise majority 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Also called ‘Boundling’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Produces similar vectors similar to both (superposition)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”MULTIPLY” → Coordinatewise XOR: M = A*B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Also called ‘Binding’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Produces dissimilar (</a:t>
            </a:r>
            <a:r>
              <a:rPr lang="en" sz="1329"/>
              <a:t>≈</a:t>
            </a:r>
            <a:r>
              <a:rPr lang="en"/>
              <a:t>orthogonal) vectors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Tells if the bits are different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XOR is it’s own inverse (A * A = 0)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Distributes over addition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“PERMUTE” → rotate/shuffle vector coordinates P = rA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Preserves distance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Matrix form (not binary)</a:t>
            </a:r>
            <a:endParaRPr/>
          </a:p>
          <a:p>
            <a:pPr indent="-29083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Used to encode sequences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Hamming distance or cosine for similarity</a:t>
            </a:r>
            <a:endParaRPr/>
          </a:p>
          <a:p>
            <a:pPr indent="-30861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Resulting vectors have the same dimension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375" y="905050"/>
            <a:ext cx="2632825" cy="17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Arithmetic - Key takeaways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Randomly</a:t>
            </a:r>
            <a:r>
              <a:rPr lang="en"/>
              <a:t> chosen vectors are </a:t>
            </a:r>
            <a:r>
              <a:rPr i="1" lang="en"/>
              <a:t>almost</a:t>
            </a:r>
            <a:r>
              <a:rPr lang="en"/>
              <a:t> </a:t>
            </a:r>
            <a:r>
              <a:rPr b="1" lang="en"/>
              <a:t>orthogonal</a:t>
            </a:r>
            <a:endParaRPr b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Addition produces </a:t>
            </a:r>
            <a:r>
              <a:rPr b="1" lang="en"/>
              <a:t>similar</a:t>
            </a:r>
            <a:r>
              <a:rPr lang="en"/>
              <a:t> vectors (take the majority)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Multiplication produces </a:t>
            </a:r>
            <a:r>
              <a:rPr b="1" lang="en"/>
              <a:t>dissimilar</a:t>
            </a:r>
            <a:r>
              <a:rPr lang="en"/>
              <a:t> vectors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Multiplication is invertible and distributes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Permutation is also invertible and distributes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Multiplication and permutation preserve similarity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Switching between binary to bipolar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1862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Binary 0 ← → Bipolar 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Binary 1 ← → Bipolar -1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XOR ← → Multiply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Majority ← → Sign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Example(s)</a:t>
            </a:r>
            <a:endParaRPr/>
          </a:p>
        </p:txBody>
      </p:sp>
      <p:sp>
        <p:nvSpPr>
          <p:cNvPr id="166" name="Google Shape;166;p30"/>
          <p:cNvSpPr txBox="1"/>
          <p:nvPr>
            <p:ph idx="1" type="body"/>
          </p:nvPr>
        </p:nvSpPr>
        <p:spPr>
          <a:xfrm>
            <a:off x="311700" y="1138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Paper: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 vector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Rule learning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Analogy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Lecture: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Language example</a:t>
            </a:r>
            <a:endParaRPr/>
          </a:p>
        </p:txBody>
      </p:sp>
      <p:pic>
        <p:nvPicPr>
          <p:cNvPr id="167" name="Google Shape;16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0875" y="317500"/>
            <a:ext cx="5401425" cy="46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Motivation</a:t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11700" y="1138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People can identify languages without knowing the language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Compute a 10.000 dimensional profile vector for each language and for each test sentence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the nearest language profile per sentence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Data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11700" y="1138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21 EU languages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Transcribe to latin alphabet, remove special letters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“Train” with million bytes of text per language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 with 1000 sentences per language (from independent source)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Computing the Profiles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1) Encoding the letters</a:t>
            </a:r>
            <a:br>
              <a:rPr lang="en"/>
            </a:br>
            <a:r>
              <a:rPr lang="en"/>
              <a:t>- Encode letters with 27 vectors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10k dim random vectors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775" y="959250"/>
            <a:ext cx="5229750" cy="18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Computing the Profiles</a:t>
            </a:r>
            <a:endParaRPr/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1) Encoding the letters</a:t>
            </a:r>
            <a:br>
              <a:rPr lang="en"/>
            </a:br>
            <a:r>
              <a:rPr lang="en"/>
              <a:t>- Encode letters with 27 vectors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10k dim random vectors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2) Encode text as trigrams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permutation to have a sequence</a:t>
            </a:r>
            <a:br>
              <a:rPr lang="en"/>
            </a:br>
            <a:r>
              <a:rPr lang="en"/>
              <a:t>(rotate by right by 1): THE= rrT * rH *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“The quick brown fox jumped over…”</a:t>
            </a:r>
            <a:endParaRPr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4775" y="959250"/>
            <a:ext cx="5229750" cy="18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Computing the Profiles</a:t>
            </a:r>
            <a:endParaRPr/>
          </a:p>
        </p:txBody>
      </p:sp>
      <p:sp>
        <p:nvSpPr>
          <p:cNvPr id="199" name="Google Shape;199;p35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Step 1) Encoding the letters</a:t>
            </a:r>
            <a:br>
              <a:rPr lang="en"/>
            </a:br>
            <a:r>
              <a:rPr lang="en"/>
              <a:t>- Encode letters with 27 vectors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10k dim random vectors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Step 2) Encode text as trigrams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 permutation to have a sequence</a:t>
            </a:r>
            <a:br>
              <a:rPr lang="en"/>
            </a:br>
            <a:r>
              <a:rPr lang="en"/>
              <a:t>(rotate by right by 1): THE= rrT * rH * 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“The quick brown fox jumped over…”</a:t>
            </a:r>
            <a:endParaRPr/>
          </a:p>
        </p:txBody>
      </p:sp>
      <p:pic>
        <p:nvPicPr>
          <p:cNvPr id="200" name="Google Shape;2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9525" y="2844869"/>
            <a:ext cx="4424474" cy="162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24775" y="959250"/>
            <a:ext cx="5229750" cy="18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3" y="4514825"/>
            <a:ext cx="4373376" cy="38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5"/>
          <p:cNvSpPr/>
          <p:nvPr/>
        </p:nvSpPr>
        <p:spPr>
          <a:xfrm>
            <a:off x="2094150" y="3972125"/>
            <a:ext cx="398700" cy="466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Compare and Cluster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/>
              <a:t>Step 3) Measure similarity: Cosine</a:t>
            </a:r>
            <a:br>
              <a:rPr lang="en"/>
            </a:br>
            <a:endParaRPr/>
          </a:p>
        </p:txBody>
      </p:sp>
      <p:pic>
        <p:nvPicPr>
          <p:cNvPr id="210" name="Google Shape;21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350" y="1465400"/>
            <a:ext cx="5869200" cy="36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6"/>
          <p:cNvSpPr/>
          <p:nvPr/>
        </p:nvSpPr>
        <p:spPr>
          <a:xfrm>
            <a:off x="7147125" y="4796275"/>
            <a:ext cx="675600" cy="3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Computing the Profiles</a:t>
            </a:r>
            <a:endParaRPr/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Results: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97.3% accuracy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English profile: after ‘th’ the closest letter is “e”, then </a:t>
            </a:r>
            <a:r>
              <a:rPr i="1" lang="en"/>
              <a:t>space</a:t>
            </a:r>
            <a:r>
              <a:rPr lang="en"/>
              <a:t>, “a”, “i”, “r” and “o”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Q = rrT * rH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X = Q * Eng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Closest letter vectors: X ≈ E, #, A, I, R, O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- Computing the Profiles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101100" y="1098425"/>
            <a:ext cx="9042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Summary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 with </a:t>
            </a:r>
            <a:r>
              <a:rPr b="1" lang="en"/>
              <a:t>random</a:t>
            </a:r>
            <a:r>
              <a:rPr lang="en"/>
              <a:t> 10.000 dimensional bipolar vectors for each letter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Compute </a:t>
            </a:r>
            <a:r>
              <a:rPr lang="en"/>
              <a:t>10.000 dimensional vectors for trigrams with </a:t>
            </a:r>
            <a:r>
              <a:rPr b="1" lang="en"/>
              <a:t>permute</a:t>
            </a:r>
            <a:r>
              <a:rPr lang="en"/>
              <a:t> and </a:t>
            </a:r>
            <a:r>
              <a:rPr b="1" lang="en"/>
              <a:t>multiply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Add</a:t>
            </a:r>
            <a:r>
              <a:rPr lang="en"/>
              <a:t> all trigram vectors together to form a profile vector for languages and test sentences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Compare using cosine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Similarities to DL</a:t>
            </a:r>
            <a:endParaRPr/>
          </a:p>
        </p:txBody>
      </p:sp>
      <p:sp>
        <p:nvSpPr>
          <p:cNvPr id="229" name="Google Shape;229;p39"/>
          <p:cNvSpPr txBox="1"/>
          <p:nvPr>
            <p:ph idx="1" type="body"/>
          </p:nvPr>
        </p:nvSpPr>
        <p:spPr>
          <a:xfrm>
            <a:off x="0" y="1105175"/>
            <a:ext cx="45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Similarity</a:t>
            </a:r>
            <a:r>
              <a:rPr b="1" lang="en"/>
              <a:t>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Statistical learning from data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can be noisy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Both use high-dimensional vectors</a:t>
            </a:r>
            <a:br>
              <a:rPr lang="en"/>
            </a:br>
            <a:r>
              <a:rPr lang="en"/>
              <a:t>(NNs bog down when dim. Gets 10k?)</a:t>
            </a:r>
            <a:endParaRPr/>
          </a:p>
        </p:txBody>
      </p:sp>
      <p:sp>
        <p:nvSpPr>
          <p:cNvPr id="230" name="Google Shape;230;p39"/>
          <p:cNvSpPr txBox="1"/>
          <p:nvPr>
            <p:ph idx="1" type="body"/>
          </p:nvPr>
        </p:nvSpPr>
        <p:spPr>
          <a:xfrm>
            <a:off x="4617450" y="1105175"/>
            <a:ext cx="4337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Differences</a:t>
            </a:r>
            <a:r>
              <a:rPr b="1" lang="en"/>
              <a:t>:</a:t>
            </a:r>
            <a:endParaRPr b="1"/>
          </a:p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Relies on mathematical theory, not on heuristics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New codewords are made from existing ones in a single application of HDV operations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Memory is a separate function (stores and retrieves data as nn </a:t>
            </a:r>
            <a:r>
              <a:rPr lang="en"/>
              <a:t>search</a:t>
            </a:r>
            <a:r>
              <a:rPr lang="en"/>
              <a:t>)</a:t>
            </a:r>
            <a:br>
              <a:rPr lang="en"/>
            </a:br>
            <a:br>
              <a:rPr lang="en"/>
            </a:br>
            <a:r>
              <a:rPr lang="en"/>
              <a:t>Therefore: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 Transparent, Incremental, Scalable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</a:t>
            </a:r>
            <a:endParaRPr/>
          </a:p>
        </p:txBody>
      </p:sp>
      <p:sp>
        <p:nvSpPr>
          <p:cNvPr id="236" name="Google Shape;236;p40"/>
          <p:cNvSpPr txBox="1"/>
          <p:nvPr>
            <p:ph idx="1" type="body"/>
          </p:nvPr>
        </p:nvSpPr>
        <p:spPr>
          <a:xfrm>
            <a:off x="0" y="1105175"/>
            <a:ext cx="45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computers will be built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Simpler, faster ML algorithms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Vision and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Multi-sensor integration &amp; Robots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Forecast</a:t>
            </a:r>
            <a:endParaRPr/>
          </a:p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0" y="1105175"/>
            <a:ext cx="45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 computers will be built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Simpler, faster ML algorithms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Vision and Language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Multi-sensor integration &amp; Robots</a:t>
            </a:r>
            <a:endParaRPr/>
          </a:p>
        </p:txBody>
      </p:sp>
      <p:sp>
        <p:nvSpPr>
          <p:cNvPr id="243" name="Google Shape;243;p41"/>
          <p:cNvSpPr txBox="1"/>
          <p:nvPr>
            <p:ph type="title"/>
          </p:nvPr>
        </p:nvSpPr>
        <p:spPr>
          <a:xfrm>
            <a:off x="311700" y="2718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Note! Different arithmetic is possible</a:t>
            </a:r>
            <a:endParaRPr/>
          </a:p>
        </p:txBody>
      </p:sp>
      <p:pic>
        <p:nvPicPr>
          <p:cNvPr id="244" name="Google Shape;2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25" y="3416805"/>
            <a:ext cx="9144001" cy="1460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311700" y="1017725"/>
            <a:ext cx="8520600" cy="39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Holographic?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Nature of the holograms is that it distributes the information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You can take any HDV in half, it’s going to contain the same information, but it’s going to be less precise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is it not unsupervised learning: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 parameter optimisation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10k?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10k allows you to build a system that can handle a network of 1b nodes.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are the practical applications (besides recognizing languages)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Identifying EEG signals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When you go to high dimensional space, you can resolve things with linear classifiers.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